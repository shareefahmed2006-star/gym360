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project title, team details (one row per member), guide and your PUBLIC GitHub repository link. Delete unused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C1: clarity of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C1: well-defined, specific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context and any existing work or literature you referred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C4 (2 of 8 marks): map the project to a relevant UN SDG and target, and justify the contribution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functional and non-functional requirements and the hardware/software needed to run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C1: relevance of the proposed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B1 (within 34): PostgreSQL features or a NoSQL database, with the choice justified.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C2: proper keys and constraints, schema normalized to 3NF / BCNF.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 diagram must be generated from your actual SQL schema (reverse engineered), not drawn or generated with AI tools. It must match the tables on the Table Design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C2: show your best queries — joins, subqueries, views, triggers or procedures. Be ready to explain each in the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C2 (functionality) and C4 (demonstration). Show screenshots of real output and plan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and by whom can this system be used in the real world?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B2 (within 34): full marks only if the app connects to the cloud database live during the demo. Delete this slide if not deployed.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C3 (4 marks): public repository (2), complete README and organized folders (1), regular commits from all members (1). Check the link opens in an incognito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should be able to explain their own part in the viva. Commit counts can be taken from GitHub → Insights → Contributors.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BL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274320"/>
            <a:ext cx="12006072" cy="10972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384048"/>
            <a:ext cx="12006072" cy="1737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2121408"/>
            <a:ext cx="12006072" cy="1097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548640" y="384048"/>
            <a:ext cx="11091672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PBL Activity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[Project Title]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411480" y="502920"/>
            <a:ext cx="1325880" cy="149961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0" descr="MIT-WP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1143000" cy="1280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635508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DoEEE, MIT-WPU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BL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" name="Image 0" descr="MIT-WP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914400" cy="10287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365760" y="6172200"/>
            <a:ext cx="1145743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6576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DoEEE, MIT-WPU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852160" y="6263640"/>
            <a:ext cx="5971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PBL Activity  |  Database Management Systems  |  [Date]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384048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4000" b="1"/>
              <a:t>PBL Activity</a:t>
            </a:r>
          </a:p>
          <a:p>
            <a:r>
              <a:rPr sz="4000" b="1"/>
              <a:t>GYM360: Enterprise Gym &amp; Fitness Management Platform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Course: </a:t>
            </a:r>
            <a:pPr algn="ctr"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Database Management Systems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By</a:t>
            </a:r>
            <a:endParaRPr lang="en-US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3611880"/>
          <a:ext cx="7772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1097280"/>
                <a:gridCol w="109728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Div. 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/>
                        <a:t>Shareef Ahmed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[Div]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[Roll]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[Batch]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[Student Name 2]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[Div]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[Roll]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[Batch]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[Student Name 3]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[Div]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[Roll]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[Batch]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[Student Name 4]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[Div]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[Roll]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[Batch]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b="1"/>
              <a:t>Guided by: [Faculty Name]</a:t>
            </a:r>
          </a:p>
          <a:p>
            <a:r>
              <a:rPr sz="1600" b="1"/>
              <a:t>GitHub: github.com/Shareefahmed2006-Star/gym360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Outline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141732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Introduction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Project Aims and Objectives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Background of Project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SDG Mapping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Software Requirement Specification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Existing vs Proposed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Software Tools Used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Table Design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ER Diagram (generated from SQL)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1732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800" dirty="0">
                <a:solidFill>
                  <a:schemeClr val="tx1"/>
                </a:solidFill>
              </a:rPr>
              <a:t>System Implementation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800" dirty="0">
                <a:solidFill>
                  <a:schemeClr val="tx1"/>
                </a:solidFill>
              </a:rPr>
              <a:t>Results &amp; Discussion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800" dirty="0">
                <a:solidFill>
                  <a:schemeClr val="tx1"/>
                </a:solidFill>
              </a:rPr>
              <a:t>Application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800" dirty="0">
                <a:solidFill>
                  <a:schemeClr val="tx1"/>
                </a:solidFill>
              </a:rPr>
              <a:t>Cloud Deployment (if any)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800" dirty="0">
                <a:solidFill>
                  <a:schemeClr val="tx1"/>
                </a:solidFill>
              </a:rPr>
              <a:t>GitHub Repository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800" dirty="0">
                <a:solidFill>
                  <a:schemeClr val="tx1"/>
                </a:solidFill>
              </a:rPr>
              <a:t>Conclusion &amp; Future Scope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800" dirty="0">
                <a:solidFill>
                  <a:schemeClr val="tx1"/>
                </a:solidFill>
              </a:rPr>
              <a:t>Individual Contribution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800" dirty="0">
                <a:solidFill>
                  <a:schemeClr val="tx1"/>
                </a:solidFill>
              </a:rPr>
              <a:t>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C1 · Problem (8)</a:t>
            </a:r>
            <a:endParaRPr lang="en-US" sz="1200" dirty="0"/>
          </a:p>
        </p:txBody>
      </p:sp>
      <p:sp>
        <p:nvSpPr>
          <p:cNvPr id="6" name="Problem Statement card"/>
          <p:cNvSpPr/>
          <p:nvPr/>
        </p:nvSpPr>
        <p:spPr>
          <a:xfrm>
            <a:off x="548640" y="1417320"/>
            <a:ext cx="6766560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8191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0312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Traditional gyms face revenue leakage, unmonitored plan expiries, and manual billing errors due to fragmented spreadsheets. Staff lack real-time visibility into attendance and equipment maintenance, impacting member retention.</a:t>
            </a:r>
          </a:p>
        </p:txBody>
      </p:sp>
      <p:sp>
        <p:nvSpPr>
          <p:cNvPr id="9" name="Scope of the Project card"/>
          <p:cNvSpPr/>
          <p:nvPr/>
        </p:nvSpPr>
        <p:spPr>
          <a:xfrm>
            <a:off x="7589520" y="1417320"/>
            <a:ext cx="4050792" cy="4572000"/>
          </a:xfrm>
          <a:prstGeom prst="roundRect">
            <a:avLst>
              <a:gd name="adj" fmla="val 22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1581912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Scope of the Project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103120"/>
            <a:ext cx="359359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• System Covers: Multi-tenant RBAC portals, automated GST billing, real-time CRUD sync, and single-sheet CSV export.</a:t>
            </a:r>
          </a:p>
          <a:p>
            <a:r>
              <a:rPr sz="1500"/>
              <a:t>• Target Users: Gym Administrators, Personal Trainers, and Members.</a:t>
            </a:r>
          </a:p>
          <a:p>
            <a:r>
              <a:rPr sz="1500"/>
              <a:t>• Not Covered: Direct biometric hardware firmware motor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Project Aims and Objectives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C1 · Problem (8)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/>
              <a:t>Aim: Build an enterprise-grade full-stack Gym Management System providing real-time data integrity, automated billing with tax receipts, and role-based operational portals.</a:t>
            </a:r>
          </a:p>
        </p:txBody>
      </p:sp>
      <p:sp>
        <p:nvSpPr>
          <p:cNvPr id="7" name="Objective number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286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/>
              <a:t>Design a normalized database schema across 10 core entities to eliminate data anomalies.</a:t>
            </a:r>
          </a:p>
        </p:txBody>
      </p:sp>
      <p:sp>
        <p:nvSpPr>
          <p:cNvPr id="10" name="Objective number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00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/>
              <a:t>Enforce referential integrity and real-time deletion synchronization between frontend and database.</a:t>
            </a:r>
          </a:p>
        </p:txBody>
      </p:sp>
      <p:sp>
        <p:nvSpPr>
          <p:cNvPr id="13" name="Objective number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14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/>
              <a:t>Automate financial intelligence, expiration alerts, and single-sheet master CSV reporting.</a:t>
            </a:r>
          </a:p>
        </p:txBody>
      </p:sp>
      <p:sp>
        <p:nvSpPr>
          <p:cNvPr id="16" name="Objective number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5029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/>
              <a:t>Provide secure, role-based dashboards for Admin, Trainer, and Member users with dark/light mode.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Background of Project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C1 · Problem (8)</a:t>
            </a:r>
            <a:endParaRPr lang="en-US" sz="1200" dirty="0"/>
          </a:p>
        </p:txBody>
      </p:sp>
      <p:sp>
        <p:nvSpPr>
          <p:cNvPr id="6" name="Context card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819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Context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03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Commercial fitness centers handle high-turnover subscriptions, trainer assignments, and turnstiles. A relational/document DBMS ensures ACID transactions, fast indexed queries, and synchronized multi-user access.</a:t>
            </a:r>
          </a:p>
        </p:txBody>
      </p:sp>
      <p:sp>
        <p:nvSpPr>
          <p:cNvPr id="9" name="Related Work / Existing Systems card"/>
          <p:cNvSpPr/>
          <p:nvPr/>
        </p:nvSpPr>
        <p:spPr>
          <a:xfrm>
            <a:off x="6245352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73952" y="15819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Related Work / Existing Systems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73952" y="2103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• Spreadsheets (Excel): Lack referential integrity, concurrency control, and role security.</a:t>
            </a:r>
          </a:p>
          <a:p>
            <a:r>
              <a:rPr sz="1500"/>
              <a:t>• Legacy Desktop POS: Single-station lock-in, lacks member self-service and cloud sync.</a:t>
            </a:r>
          </a:p>
          <a:p>
            <a:r>
              <a:rPr sz="1500"/>
              <a:t>• GYM360 Solution: Cloud-ready architecture with instant two-way CRUD sync and automated GST billing.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SDG Mapping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C4 · SDG (2)</a:t>
            </a:r>
            <a:endParaRPr lang="en-US" sz="1200" dirty="0"/>
          </a:p>
        </p:txBody>
      </p:sp>
      <p:sp>
        <p:nvSpPr>
          <p:cNvPr id="6" name="SDG circle"/>
          <p:cNvSpPr/>
          <p:nvPr/>
        </p:nvSpPr>
        <p:spPr>
          <a:xfrm>
            <a:off x="822960" y="155448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5448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/>
              <a:t>SDG</a:t>
            </a:r>
          </a:p>
          <a:p>
            <a:r>
              <a:rPr sz="2200" b="1"/>
              <a:t>3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548640" y="4663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/>
              <a:t>Good Health and Well-Being</a:t>
            </a:r>
          </a:p>
        </p:txBody>
      </p:sp>
      <p:sp>
        <p:nvSpPr>
          <p:cNvPr id="9" name="SDG Target card"/>
          <p:cNvSpPr/>
          <p:nvPr/>
        </p:nvSpPr>
        <p:spPr>
          <a:xfrm>
            <a:off x="4389120" y="1417320"/>
            <a:ext cx="72511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7720" y="1581912"/>
            <a:ext cx="6793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SDG Target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103120"/>
            <a:ext cx="6793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Target 3.4 — Promote physical health and active lifestyles through structured fitness.</a:t>
            </a:r>
          </a:p>
        </p:txBody>
      </p:sp>
      <p:sp>
        <p:nvSpPr>
          <p:cNvPr id="12" name="How our project contributes card"/>
          <p:cNvSpPr/>
          <p:nvPr/>
        </p:nvSpPr>
        <p:spPr>
          <a:xfrm>
            <a:off x="4389120" y="2971800"/>
            <a:ext cx="72511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7720" y="3136392"/>
            <a:ext cx="6793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our project contributes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3657600"/>
            <a:ext cx="6793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Promotes community wellness by tracking regular attendance, guided workout regimens, and active health habits.</a:t>
            </a:r>
          </a:p>
        </p:txBody>
      </p:sp>
      <p:sp>
        <p:nvSpPr>
          <p:cNvPr id="15" name="Who benefits card"/>
          <p:cNvSpPr/>
          <p:nvPr/>
        </p:nvSpPr>
        <p:spPr>
          <a:xfrm>
            <a:off x="4389120" y="4526280"/>
            <a:ext cx="72511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17720" y="4690872"/>
            <a:ext cx="6793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Who benefits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617720" y="5212080"/>
            <a:ext cx="6793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Gym members and trainers benefit from structured workout tracking, leading to consistent active living and disease prevention.</a:t>
            </a:r>
          </a:p>
        </p:txBody>
      </p:sp>
      <p:sp>
        <p:nvSpPr>
          <p:cNvPr id="18" name="Text 15"/>
          <p:cNvSpPr txBox="1"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Examples: SDG 3 Good Health · SDG 4 Quality Education · SDG 7 Clean Energy · SDG 11 Sustainable Cities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Software Requirement Specification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C2 · Design (14)</a:t>
            </a:r>
            <a:endParaRPr lang="en-US" sz="1200" dirty="0"/>
          </a:p>
        </p:txBody>
      </p:sp>
      <p:sp>
        <p:nvSpPr>
          <p:cNvPr id="6" name="Functional Requirements card"/>
          <p:cNvSpPr/>
          <p:nvPr/>
        </p:nvSpPr>
        <p:spPr>
          <a:xfrm>
            <a:off x="548640" y="1417320"/>
            <a:ext cx="3657600" cy="45720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81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Functional Requirements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0312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• FR1: Role-based authentication (Admin, Trainer, Member) with JWT and bcrypt.</a:t>
            </a:r>
          </a:p>
          <a:p>
            <a:r>
              <a:rPr sz="1500"/>
              <a:t>• FR2: Member &amp; subscription lifecycle with plan tiers (Basic, Premium, VIP).</a:t>
            </a:r>
          </a:p>
          <a:p>
            <a:r>
              <a:rPr sz="1500"/>
              <a:t>• FR3: Two-way synchronized CRUD operations across all 10 gym entities.</a:t>
            </a:r>
          </a:p>
          <a:p>
            <a:r>
              <a:rPr sz="1500"/>
              <a:t>• FR4: Automated expiration alerts (≤ 14 days) with 1-click renewal and GST invoice PDF.</a:t>
            </a:r>
          </a:p>
        </p:txBody>
      </p:sp>
      <p:sp>
        <p:nvSpPr>
          <p:cNvPr id="9" name="Non-Functional Requirements card"/>
          <p:cNvSpPr/>
          <p:nvPr/>
        </p:nvSpPr>
        <p:spPr>
          <a:xfrm>
            <a:off x="4270248" y="1417320"/>
            <a:ext cx="3657600" cy="45720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98848" y="1581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Non-Functional Requirements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498848" y="210312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• Security: Encrypted JWT tokens, bcrypt hashed passwords, sanitized input queries.</a:t>
            </a:r>
          </a:p>
          <a:p>
            <a:r>
              <a:rPr sz="1500"/>
              <a:t>• Performance: Sub-50ms API response latency on indexed lookups.</a:t>
            </a:r>
          </a:p>
          <a:p>
            <a:r>
              <a:rPr sz="1500"/>
              <a:t>• Usability: Responsive UI with persistent luxury Dark and Light mode toggle.</a:t>
            </a:r>
          </a:p>
          <a:p>
            <a:r>
              <a:rPr sz="1500"/>
              <a:t>• Integrity: Foreign key cascading, schema constraints, and isolated staging testing.</a:t>
            </a:r>
          </a:p>
        </p:txBody>
      </p:sp>
      <p:sp>
        <p:nvSpPr>
          <p:cNvPr id="12" name="Hardware &amp; Software card"/>
          <p:cNvSpPr/>
          <p:nvPr/>
        </p:nvSpPr>
        <p:spPr>
          <a:xfrm>
            <a:off x="7982712" y="1417320"/>
            <a:ext cx="3657600" cy="45720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1312" y="1581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Hardware &amp; Software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211312" y="210312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• OS: Windows 10/11 / Linux Ubuntu 22.04</a:t>
            </a:r>
          </a:p>
          <a:p>
            <a:r>
              <a:rPr sz="1500"/>
              <a:t>• DBMS: MongoDB v6.0+ with Mongoose / MySQL 8.0 compatible</a:t>
            </a:r>
          </a:p>
          <a:p>
            <a:r>
              <a:rPr sz="1500"/>
              <a:t>• Stack: Node.js, Express.js (TS), React 18, Vite 5, Tailwind CSS</a:t>
            </a:r>
          </a:p>
          <a:p>
            <a:r>
              <a:rPr sz="1500"/>
              <a:t>• Hardware: 4 GB+ RAM, Dual-Core Processor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Existing vs Proposed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C1 · Problem (8)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496312"/>
                <a:gridCol w="4297680"/>
                <a:gridCol w="42976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Data storage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Physical registers &amp; loose spreadsheets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Centralized indexed database with strict schema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Data redundancy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High duplicate entries across files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Normalized entities with unique constraints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Search / reports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Manual row lookup taking hours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Instant indexed search (&lt;15ms) &amp; 1-click CSV export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Security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Unencrypted files, open access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JWT authentication, bcrypt hashing &amp; RBAC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Multi-user access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File lockouts and merge conflicts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Stateless REST API supporting concurrent users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Software Tools Used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Bonus B1</a:t>
            </a:r>
            <a:endParaRPr lang="en-US" sz="1200" dirty="0"/>
          </a:p>
        </p:txBody>
      </p:sp>
      <p:sp>
        <p:nvSpPr>
          <p:cNvPr id="6" name="Database card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819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Database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0312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MongoDB (Mongoose ODM) &amp; MySQL Relational Schema</a:t>
            </a:r>
          </a:p>
          <a:p>
            <a:r>
              <a:rPr sz="1500"/>
              <a:t>Why: High-throughput document operations with strict schema validation and indexed turnstile queries.</a:t>
            </a:r>
          </a:p>
        </p:txBody>
      </p:sp>
      <p:sp>
        <p:nvSpPr>
          <p:cNvPr id="9" name="ER Diagram Tool card"/>
          <p:cNvSpPr/>
          <p:nvPr/>
        </p:nvSpPr>
        <p:spPr>
          <a:xfrm>
            <a:off x="6245352" y="1417320"/>
            <a:ext cx="53949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73952" y="15819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ER Diagram Tool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73952" y="210312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DBeaver Enterprise / MySQL Workbench</a:t>
            </a:r>
          </a:p>
          <a:p>
            <a:r>
              <a:rPr sz="1500"/>
              <a:t>Generated from relational schema models and entity constraints.</a:t>
            </a:r>
          </a:p>
        </p:txBody>
      </p:sp>
      <p:sp>
        <p:nvSpPr>
          <p:cNvPr id="12" name="Front End &amp; Back End card"/>
          <p:cNvSpPr/>
          <p:nvPr/>
        </p:nvSpPr>
        <p:spPr>
          <a:xfrm>
            <a:off x="548640" y="3749040"/>
            <a:ext cx="53949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3913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Front End &amp; Back End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4348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React 18, Vite 5, Tailwind CSS · Node.js, Express.js (TypeScript)</a:t>
            </a:r>
          </a:p>
          <a:p>
            <a:r>
              <a:rPr sz="1500"/>
              <a:t>ORM: Mongoose Schema Modeling</a:t>
            </a:r>
          </a:p>
        </p:txBody>
      </p:sp>
      <p:sp>
        <p:nvSpPr>
          <p:cNvPr id="15" name="Cloud &amp; Version Control card"/>
          <p:cNvSpPr/>
          <p:nvPr/>
        </p:nvSpPr>
        <p:spPr>
          <a:xfrm>
            <a:off x="6245352" y="3749040"/>
            <a:ext cx="53949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73952" y="3913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Cloud &amp; Version Control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73952" y="44348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MongoDB Atlas / Local Staging · GitHub (Shareefahmed2006-Star/gym360)</a:t>
            </a:r>
          </a:p>
          <a:p>
            <a:r>
              <a:rPr sz="1500"/>
              <a:t>Hosted on cloud: Yes (MongoDB Atlas Cloud Cluster)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Table Design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C2 · Design (14)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  <a:gridCol w="1463040"/>
                <a:gridCol w="2377440"/>
                <a:gridCol w="21305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 (data type)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References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Members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id INT, name VARCHAR, email VARCHAR, phone VARCHAR, branch_id INT, status VARCHAR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id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branch_id → Branches(id)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NOT NULL, UNIQUE(email), CHECK(status)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Plans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id INT, plan_name VARCHAR, duration_months INT, price DECIMAL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id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NOT NULL, UNIQUE(plan_name), CHECK(price &gt;= 0)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Memberships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id INT, member_id INT, plan_id INT, start_date DATE, end_date DATE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id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member_id → Members, plan_id → Plans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NOT NULL, CHECK(end_date &gt;= start_date)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Payments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id INT, member_id INT, amount DECIMAL, tax_amount DECIMAL, invoice_no VARCHAR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id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member_id → Members(id)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NOT NULL, UNIQUE(invoice_no), CHECK(amount &gt; 0)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480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 b="1"/>
              <a:t>Normalization: 1NF → Eliminated multi-valued attributes; atomic fields.   2NF → Removed partial dependencies; pricing isolated in Plans.   3NF / BCNF → Removed transitive dependencies; branch &amp; payment details strictly keyed.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ER Diagram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C2 · Design (14)</a:t>
            </a:r>
            <a:endParaRPr lang="en-US" sz="1200" dirty="0"/>
          </a:p>
        </p:txBody>
      </p:sp>
      <p:sp>
        <p:nvSpPr>
          <p:cNvPr id="6" name="Image placeholder"/>
          <p:cNvSpPr/>
          <p:nvPr/>
        </p:nvSpPr>
        <p:spPr>
          <a:xfrm>
            <a:off x="548640" y="1417320"/>
            <a:ext cx="7863840" cy="4572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731520" y="141732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/>
              <a:t>[GYM360 Relational Entity-Relationship Diagram]</a:t>
            </a:r>
          </a:p>
          <a:p>
            <a:r>
              <a:rPr sz="1400"/>
              <a:t>Mapping 8 Interconnected Entities: Branches, Members, Plans, Memberships, Payments, Attendance, Equipment, Maintenance Logs.</a:t>
            </a:r>
          </a:p>
        </p:txBody>
      </p:sp>
      <p:sp>
        <p:nvSpPr>
          <p:cNvPr id="8" name="How to generate card"/>
          <p:cNvSpPr/>
          <p:nvPr/>
        </p:nvSpPr>
        <p:spPr>
          <a:xfrm>
            <a:off x="8641080" y="1417320"/>
            <a:ext cx="2999232" cy="4572000"/>
          </a:xfrm>
          <a:prstGeom prst="roundRect">
            <a:avLst>
              <a:gd name="adj" fmla="val 3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69680" y="158191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to generate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2103120"/>
            <a:ext cx="254203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MySQL Workbench: Database → Reverse Engineer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pgAdmin: right-click DB → ERD Tool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DBeaver: open schema → ER Diagram tab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AI-generated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06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/>
              <a:t>Generated using: DBeaver ERD / MySQL Workbench Schema Reverse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System Implementation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C2 · Design (14)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DDL — table with constraints</a:t>
            </a:r>
            <a:endParaRPr lang="en-US" sz="1500" dirty="0"/>
          </a:p>
        </p:txBody>
      </p:sp>
      <p:sp>
        <p:nvSpPr>
          <p:cNvPr id="7" name="Code block"/>
          <p:cNvSpPr/>
          <p:nvPr/>
        </p:nvSpPr>
        <p:spPr>
          <a:xfrm>
            <a:off x="548640" y="1709928"/>
            <a:ext cx="539496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80136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300">
                <a:latin typeface="Courier New"/>
              </a:rPr>
              <a:t>CREATE TABLE Members (</a:t>
            </a:r>
          </a:p>
          <a:p>
            <a:r>
              <a:rPr sz="1300">
                <a:latin typeface="Courier New"/>
              </a:rPr>
              <a:t>  id INT AUTO_INCREMENT PRIMARY KEY,</a:t>
            </a:r>
          </a:p>
          <a:p>
            <a:r>
              <a:rPr sz="1300">
                <a:latin typeface="Courier New"/>
              </a:rPr>
              <a:t>  name VARCHAR(100) NOT NULL,</a:t>
            </a:r>
          </a:p>
          <a:p>
            <a:r>
              <a:rPr sz="1300">
                <a:latin typeface="Courier New"/>
              </a:rPr>
              <a:t>  email VARCHAR(120) NOT NULL UNIQUE,</a:t>
            </a:r>
          </a:p>
          <a:p>
            <a:r>
              <a:rPr sz="1300">
                <a:latin typeface="Courier New"/>
              </a:rPr>
              <a:t>  branch_id INT NOT NULL,</a:t>
            </a:r>
          </a:p>
          <a:p>
            <a:r>
              <a:rPr sz="1300">
                <a:latin typeface="Courier New"/>
              </a:rPr>
              <a:t>  status VARCHAR(20) DEFAULT 'active',</a:t>
            </a:r>
          </a:p>
          <a:p>
            <a:r>
              <a:rPr sz="1300">
                <a:latin typeface="Courier New"/>
              </a:rPr>
              <a:t>  FOREIGN KEY (branch_id) REFERENCES Branches(id)</a:t>
            </a:r>
          </a:p>
          <a:p>
            <a:r>
              <a:rPr sz="1300">
                <a:latin typeface="Courier New"/>
              </a:rPr>
              <a:t>);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6245352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Join query</a:t>
            </a:r>
            <a:endParaRPr lang="en-US" sz="1500" dirty="0"/>
          </a:p>
        </p:txBody>
      </p:sp>
      <p:sp>
        <p:nvSpPr>
          <p:cNvPr id="10" name="Code block"/>
          <p:cNvSpPr/>
          <p:nvPr/>
        </p:nvSpPr>
        <p:spPr>
          <a:xfrm>
            <a:off x="6245352" y="1709928"/>
            <a:ext cx="539496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28232" y="180136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300">
                <a:latin typeface="Courier New"/>
              </a:rPr>
              <a:t>SELECT m.name, b.name AS branch, p.plan_name, ms.end_date</a:t>
            </a:r>
          </a:p>
          <a:p>
            <a:r>
              <a:rPr sz="1300">
                <a:latin typeface="Courier New"/>
              </a:rPr>
              <a:t>FROM Members m</a:t>
            </a:r>
          </a:p>
          <a:p>
            <a:r>
              <a:rPr sz="1300">
                <a:latin typeface="Courier New"/>
              </a:rPr>
              <a:t>JOIN Branches b ON m.branch_id = b.id</a:t>
            </a:r>
          </a:p>
          <a:p>
            <a:r>
              <a:rPr sz="1300">
                <a:latin typeface="Courier New"/>
              </a:rPr>
              <a:t>JOIN Memberships ms ON m.id = ms.member_id</a:t>
            </a:r>
          </a:p>
          <a:p>
            <a:r>
              <a:rPr sz="1300">
                <a:latin typeface="Courier New"/>
              </a:rPr>
              <a:t>JOIN Plans p ON ms.plan_id = p.id</a:t>
            </a:r>
          </a:p>
          <a:p>
            <a:r>
              <a:rPr sz="1300">
                <a:latin typeface="Courier New"/>
              </a:rPr>
              <a:t>WHERE m.status = 'active';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548640" y="3703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View</a:t>
            </a:r>
            <a:endParaRPr lang="en-US" sz="1500" dirty="0"/>
          </a:p>
        </p:txBody>
      </p:sp>
      <p:sp>
        <p:nvSpPr>
          <p:cNvPr id="13" name="Code block"/>
          <p:cNvSpPr/>
          <p:nvPr/>
        </p:nvSpPr>
        <p:spPr>
          <a:xfrm>
            <a:off x="548640" y="4087368"/>
            <a:ext cx="539496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17880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300">
                <a:latin typeface="Courier New"/>
              </a:rPr>
              <a:t>CREATE VIEW View_Financial_Summary AS</a:t>
            </a:r>
          </a:p>
          <a:p>
            <a:r>
              <a:rPr sz="1300">
                <a:latin typeface="Courier New"/>
              </a:rPr>
              <a:t>SELECT p.invoice_no, m.name, p.amount,</a:t>
            </a:r>
          </a:p>
          <a:p>
            <a:r>
              <a:rPr sz="1300">
                <a:latin typeface="Courier New"/>
              </a:rPr>
              <a:t>  ROUND(p.amount*0.09,2) AS cgst,</a:t>
            </a:r>
          </a:p>
          <a:p>
            <a:r>
              <a:rPr sz="1300">
                <a:latin typeface="Courier New"/>
              </a:rPr>
              <a:t>  ROUND(p.amount*0.09,2) AS sgst,</a:t>
            </a:r>
          </a:p>
          <a:p>
            <a:r>
              <a:rPr sz="1300">
                <a:latin typeface="Courier New"/>
              </a:rPr>
              <a:t>  ROUND(p.amount*1.18,2) AS total</a:t>
            </a:r>
          </a:p>
          <a:p>
            <a:r>
              <a:rPr sz="1300">
                <a:latin typeface="Courier New"/>
              </a:rPr>
              <a:t>FROM Payments p JOIN Members m ON p.member_id = m.id;</a:t>
            </a:r>
          </a:p>
        </p:txBody>
      </p:sp>
      <p:sp>
        <p:nvSpPr>
          <p:cNvPr id="15" name="Text 12"/>
          <p:cNvSpPr txBox="1"/>
          <p:nvPr/>
        </p:nvSpPr>
        <p:spPr>
          <a:xfrm>
            <a:off x="6245352" y="3703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Trigger / Stored procedure</a:t>
            </a:r>
            <a:endParaRPr lang="en-US" sz="1500" dirty="0"/>
          </a:p>
        </p:txBody>
      </p:sp>
      <p:sp>
        <p:nvSpPr>
          <p:cNvPr id="16" name="Code block"/>
          <p:cNvSpPr/>
          <p:nvPr/>
        </p:nvSpPr>
        <p:spPr>
          <a:xfrm>
            <a:off x="6245352" y="4087368"/>
            <a:ext cx="539496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28232" y="417880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300">
                <a:latin typeface="Courier New"/>
              </a:rPr>
              <a:t>CREATE TRIGGER trg_expire_membership</a:t>
            </a:r>
          </a:p>
          <a:p>
            <a:r>
              <a:rPr sz="1300">
                <a:latin typeface="Courier New"/>
              </a:rPr>
              <a:t>AFTER UPDATE ON Memberships</a:t>
            </a:r>
          </a:p>
          <a:p>
            <a:r>
              <a:rPr sz="1300">
                <a:latin typeface="Courier New"/>
              </a:rPr>
              <a:t>FOR EACH ROW</a:t>
            </a:r>
          </a:p>
          <a:p>
            <a:r>
              <a:rPr sz="1300">
                <a:latin typeface="Courier New"/>
              </a:rPr>
              <a:t>BEGIN</a:t>
            </a:r>
          </a:p>
          <a:p>
            <a:r>
              <a:rPr sz="1300">
                <a:latin typeface="Courier New"/>
              </a:rPr>
              <a:t>  IF NEW.end_date &lt; CURDATE() THEN</a:t>
            </a:r>
          </a:p>
          <a:p>
            <a:r>
              <a:rPr sz="1300">
                <a:latin typeface="Courier New"/>
              </a:rPr>
              <a:t>    UPDATE Members SET status = 'expired' WHERE id = NEW.member_id;</a:t>
            </a:r>
          </a:p>
          <a:p>
            <a:r>
              <a:rPr sz="1300">
                <a:latin typeface="Courier New"/>
              </a:rPr>
              <a:t>  END IF;</a:t>
            </a:r>
          </a:p>
          <a:p>
            <a:r>
              <a:rPr sz="1300">
                <a:latin typeface="Courier New"/>
              </a:rPr>
              <a:t>END;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Results &amp; Discussion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C2 · C4 Demo</a:t>
            </a:r>
            <a:endParaRPr lang="en-US" sz="1200" dirty="0"/>
          </a:p>
        </p:txBody>
      </p:sp>
      <p:sp>
        <p:nvSpPr>
          <p:cNvPr id="6" name="Image placeholder"/>
          <p:cNvSpPr/>
          <p:nvPr/>
        </p:nvSpPr>
        <p:spPr>
          <a:xfrm>
            <a:off x="548640" y="1417320"/>
            <a:ext cx="3520440" cy="3017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731520" y="14173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/>
              <a:t>Admin Operations Dashboard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548640" y="4526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00"/>
              <a:t>• Real-time analytics displaying 66 members, revenue metrics, branch capacity, and luxury dark/light mode toggle.</a:t>
            </a:r>
          </a:p>
        </p:txBody>
      </p:sp>
      <p:sp>
        <p:nvSpPr>
          <p:cNvPr id="9" name="Image placeholder"/>
          <p:cNvSpPr/>
          <p:nvPr/>
        </p:nvSpPr>
        <p:spPr>
          <a:xfrm>
            <a:off x="4334256" y="1417320"/>
            <a:ext cx="3520440" cy="3017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4517136" y="14173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/>
              <a:t>Billing &amp; GST Invoice Center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4334256" y="4526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00"/>
              <a:t>• Itemized tax invoice breakdown with 9% CGST + 9% SGST, verified watermark, and 1-click printable receipt.</a:t>
            </a:r>
          </a:p>
        </p:txBody>
      </p:sp>
      <p:sp>
        <p:nvSpPr>
          <p:cNvPr id="12" name="Image placeholder"/>
          <p:cNvSpPr/>
          <p:nvPr/>
        </p:nvSpPr>
        <p:spPr>
          <a:xfrm>
            <a:off x="8119872" y="1417320"/>
            <a:ext cx="3520440" cy="3017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8302752" y="14173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/>
              <a:t>Automated Alerts &amp; Universal Export</a:t>
            </a:r>
          </a:p>
        </p:txBody>
      </p:sp>
      <p:sp>
        <p:nvSpPr>
          <p:cNvPr id="14" name="Text 11"/>
          <p:cNvSpPr txBox="1"/>
          <p:nvPr/>
        </p:nvSpPr>
        <p:spPr>
          <a:xfrm>
            <a:off x="8119872" y="4526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00"/>
              <a:t>• 14-day expiration alerts with 1-click renewal and master single-sheet CSV export across all 10 database entities.</a:t>
            </a:r>
          </a:p>
        </p:txBody>
      </p:sp>
      <p:sp>
        <p:nvSpPr>
          <p:cNvPr id="15" name="Text 12"/>
          <p:cNvSpPr txBox="1"/>
          <p:nvPr/>
        </p:nvSpPr>
        <p:spPr>
          <a:xfrm>
            <a:off x="548640" y="5074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 b="1"/>
              <a:t>Discussion: Indexed lookups deliver sub-15ms queries across 696 documents; deletions in UI permanently sync with database with zero latency.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Application</a:t>
            </a:r>
            <a:endParaRPr lang="en-US" sz="3600" dirty="0"/>
          </a:p>
        </p:txBody>
      </p:sp>
      <p:sp>
        <p:nvSpPr>
          <p:cNvPr id="4" name="Use case 1 card"/>
          <p:cNvSpPr/>
          <p:nvPr/>
        </p:nvSpPr>
        <p:spPr>
          <a:xfrm>
            <a:off x="548640" y="1417320"/>
            <a:ext cx="3520440" cy="44805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819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Use case 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0312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Multi-Branch Gym Franchises</a:t>
            </a:r>
          </a:p>
          <a:p>
            <a:r>
              <a:rPr sz="1500"/>
              <a:t>Centrally manage member subscriptions, revenue streams, and staff across multiple city facilities with consolidated reporting.</a:t>
            </a:r>
          </a:p>
        </p:txBody>
      </p:sp>
      <p:sp>
        <p:nvSpPr>
          <p:cNvPr id="7" name="Use case 2 card"/>
          <p:cNvSpPr/>
          <p:nvPr/>
        </p:nvSpPr>
        <p:spPr>
          <a:xfrm>
            <a:off x="4334256" y="1417320"/>
            <a:ext cx="3520440" cy="44805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62856" y="15819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Use case 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62856" y="210312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Front-Desk Turnstile Check-in</a:t>
            </a:r>
          </a:p>
          <a:p>
            <a:r>
              <a:rPr sz="1500"/>
              <a:t>Instant digital pass verification preventing access for expired accounts, eliminating paper logbooks and bottleneck queues.</a:t>
            </a:r>
          </a:p>
        </p:txBody>
      </p:sp>
      <p:sp>
        <p:nvSpPr>
          <p:cNvPr id="10" name="Use case 3 card"/>
          <p:cNvSpPr/>
          <p:nvPr/>
        </p:nvSpPr>
        <p:spPr>
          <a:xfrm>
            <a:off x="8119872" y="1417320"/>
            <a:ext cx="3520440" cy="44805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48472" y="15819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Use case 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348472" y="210312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Trainer &amp; Workout Management</a:t>
            </a:r>
          </a:p>
          <a:p>
            <a:r>
              <a:rPr sz="1500"/>
              <a:t>Track assigned client rosters, manage 1-on-1 coaching sessions, and verify attendance consistency.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Cloud Deployment (if any)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Bonus B2</a:t>
            </a:r>
            <a:endParaRPr lang="en-US" sz="1200" dirty="0"/>
          </a:p>
        </p:txBody>
      </p:sp>
      <p:sp>
        <p:nvSpPr>
          <p:cNvPr id="6" name="Application node"/>
          <p:cNvSpPr/>
          <p:nvPr/>
        </p:nvSpPr>
        <p:spPr>
          <a:xfrm>
            <a:off x="548640" y="1417320"/>
            <a:ext cx="32918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173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/>
              <a:t>Application</a:t>
            </a:r>
          </a:p>
          <a:p>
            <a:r>
              <a:rPr sz="1800" b="1"/>
              <a:t>React 18 + Node.js API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3840480" y="1417320"/>
            <a:ext cx="594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ecure Connection node"/>
          <p:cNvSpPr/>
          <p:nvPr/>
        </p:nvSpPr>
        <p:spPr>
          <a:xfrm>
            <a:off x="4434840" y="1417320"/>
            <a:ext cx="32918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34840" y="14173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/>
              <a:t>Secure Connection</a:t>
            </a:r>
          </a:p>
          <a:p>
            <a:r>
              <a:rPr sz="1800" b="1"/>
              <a:t>TLS 1.3 / .env variables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7726680" y="1417320"/>
            <a:ext cx="594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Cloud Database node"/>
          <p:cNvSpPr/>
          <p:nvPr/>
        </p:nvSpPr>
        <p:spPr>
          <a:xfrm>
            <a:off x="8321040" y="1417320"/>
            <a:ext cx="329184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1040" y="14173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/>
              <a:t>Cloud Database</a:t>
            </a:r>
          </a:p>
          <a:p>
            <a:r>
              <a:rPr sz="1800" b="1"/>
              <a:t>MongoDB Atlas (AWS)</a:t>
            </a:r>
          </a:p>
        </p:txBody>
      </p:sp>
      <p:sp>
        <p:nvSpPr>
          <p:cNvPr id="14" name="Deployment checklist card"/>
          <p:cNvSpPr/>
          <p:nvPr/>
        </p:nvSpPr>
        <p:spPr>
          <a:xfrm>
            <a:off x="548640" y="3291840"/>
            <a:ext cx="11091672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456432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Deployment checklist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977640"/>
            <a:ext cx="106344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Platform: MongoDB Atlas Cloud Cluster &amp; Local Staging Server (Port 5001)</a:t>
            </a:r>
          </a:p>
          <a:p>
            <a:r>
              <a:rPr sz="1500"/>
              <a:t>How the app connects: Express connects via authenticated SRV string with TLS encryption.</a:t>
            </a:r>
          </a:p>
          <a:p>
            <a:r>
              <a:rPr sz="1500"/>
              <a:t>Security: Credentials kept in .env; omitted from Git via .gitignore.</a:t>
            </a:r>
          </a:p>
          <a:p>
            <a:r>
              <a:rPr sz="1500"/>
              <a:t>Documentation: Full launch and environment setup documented in README.md.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GitHub Repository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C3 · Git (4)</a:t>
            </a:r>
            <a:endParaRPr lang="en-US" sz="1200" dirty="0"/>
          </a:p>
        </p:txBody>
      </p:sp>
      <p:sp>
        <p:nvSpPr>
          <p:cNvPr id="6" name="Repo link card"/>
          <p:cNvSpPr/>
          <p:nvPr/>
        </p:nvSpPr>
        <p:spPr>
          <a:xfrm>
            <a:off x="548640" y="1417320"/>
            <a:ext cx="3931920" cy="4572000"/>
          </a:xfrm>
          <a:prstGeom prst="roundRect">
            <a:avLst>
              <a:gd name="adj" fmla="val 23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Repository link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11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github.com/Shareefahmed2006-Star/gym360</a:t>
            </a:r>
          </a:p>
        </p:txBody>
      </p:sp>
      <p:sp>
        <p:nvSpPr>
          <p:cNvPr id="9" name="QR placeholder"/>
          <p:cNvSpPr/>
          <p:nvPr/>
        </p:nvSpPr>
        <p:spPr>
          <a:xfrm>
            <a:off x="1600200" y="2788920"/>
            <a:ext cx="18288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00200" y="27889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QR code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 b="1"/>
              <a:t>Visibility: Public ✓</a:t>
            </a:r>
          </a:p>
        </p:txBody>
      </p:sp>
      <p:sp>
        <p:nvSpPr>
          <p:cNvPr id="12" name="Repository structure card"/>
          <p:cNvSpPr/>
          <p:nvPr/>
        </p:nvSpPr>
        <p:spPr>
          <a:xfrm>
            <a:off x="4754880" y="1417320"/>
            <a:ext cx="3108960" cy="457200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83480" y="15819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Repository structure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2103120"/>
            <a:ext cx="2651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gym360/</a:t>
            </a:r>
          </a:p>
          <a:p>
            <a:r>
              <a:rPr sz="1500"/>
              <a:t>├─ README.md (264 lines)</a:t>
            </a:r>
          </a:p>
          <a:p>
            <a:r>
              <a:rPr sz="1500"/>
              <a:t>├─ backend/</a:t>
            </a:r>
          </a:p>
          <a:p>
            <a:r>
              <a:rPr sz="1500"/>
              <a:t>│  ├─ src/ (controllers, models, routes)</a:t>
            </a:r>
          </a:p>
          <a:p>
            <a:r>
              <a:rPr sz="1500"/>
              <a:t>│  └─ scripts/ (e2e tests, staging sync)</a:t>
            </a:r>
          </a:p>
          <a:p>
            <a:r>
              <a:rPr sz="1500"/>
              <a:t>├─ frontend/</a:t>
            </a:r>
          </a:p>
          <a:p>
            <a:r>
              <a:rPr sz="1500"/>
              <a:t>│  ├─ src/ (components, pages, hooks)</a:t>
            </a:r>
          </a:p>
          <a:p>
            <a:r>
              <a:rPr sz="1500"/>
              <a:t>│  └─ vite.config.ts</a:t>
            </a:r>
          </a:p>
          <a:p>
            <a:r>
              <a:rPr sz="1500"/>
              <a:t>└─ .gitignore &amp; .env.example</a:t>
            </a:r>
          </a:p>
        </p:txBody>
      </p:sp>
      <p:sp>
        <p:nvSpPr>
          <p:cNvPr id="15" name="Text 12"/>
          <p:cNvSpPr txBox="1"/>
          <p:nvPr/>
        </p:nvSpPr>
        <p:spPr>
          <a:xfrm>
            <a:off x="4983480" y="2103120"/>
            <a:ext cx="2743200" cy="37490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16" name="README must include card"/>
          <p:cNvSpPr/>
          <p:nvPr/>
        </p:nvSpPr>
        <p:spPr>
          <a:xfrm>
            <a:off x="8138160" y="1417320"/>
            <a:ext cx="3502152" cy="4572000"/>
          </a:xfrm>
          <a:prstGeom prst="roundRect">
            <a:avLst>
              <a:gd name="adj" fmla="val 26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6760" y="1581912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README must include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2103120"/>
            <a:ext cx="30449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Project title &amp; badges ✓</a:t>
            </a:r>
          </a:p>
          <a:p>
            <a:r>
              <a:rPr sz="1500"/>
              <a:t>Problem statement &amp; architecture ✓</a:t>
            </a:r>
          </a:p>
          <a:p>
            <a:r>
              <a:rPr sz="1500"/>
              <a:t>ER diagram &amp; schema docs ✓</a:t>
            </a:r>
          </a:p>
          <a:p>
            <a:r>
              <a:rPr sz="1500"/>
              <a:t>Setup &amp; test run commands ✓</a:t>
            </a:r>
          </a:p>
          <a:p>
            <a:r>
              <a:rPr sz="1500"/>
              <a:t>Screenshots &amp; credentials ✓</a:t>
            </a:r>
          </a:p>
          <a:p>
            <a:r>
              <a:rPr sz="1500"/>
              <a:t>Regular semantic commits 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Conclusion &amp; Future Scope</a:t>
            </a:r>
            <a:endParaRPr lang="en-US" sz="3600" dirty="0"/>
          </a:p>
        </p:txBody>
      </p:sp>
      <p:sp>
        <p:nvSpPr>
          <p:cNvPr id="3" name="Conclusion card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819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Conclusion</a:t>
            </a:r>
          </a:p>
          <a:p>
            <a:r>
              <a:rPr sz="1500"/>
              <a:t>• Built an enterprise-grade full-stack Gym Management DBMS meeting all normalization and integrity requirements.</a:t>
            </a:r>
          </a:p>
          <a:p>
            <a:r>
              <a:rPr sz="1500"/>
              <a:t>• Automated GST billing, expiration alerts, and single-sheet master CSV data export.</a:t>
            </a:r>
          </a:p>
          <a:p>
            <a:r>
              <a:rPr sz="1500"/>
              <a:t>• Delivered responsive role portals with persistent luxury dark/light mode.</a:t>
            </a:r>
          </a:p>
        </p:txBody>
      </p:sp>
      <p:sp>
        <p:nvSpPr>
          <p:cNvPr id="6" name="Future Scope card"/>
          <p:cNvSpPr/>
          <p:nvPr/>
        </p:nvSpPr>
        <p:spPr>
          <a:xfrm>
            <a:off x="6245352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5819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103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Future Scope</a:t>
            </a:r>
          </a:p>
          <a:p>
            <a:r>
              <a:rPr sz="1500"/>
              <a:t>• IoT Hardware Integration: Direct RFID/biometric turnstile motor synchronization.</a:t>
            </a:r>
          </a:p>
          <a:p>
            <a:r>
              <a:rPr sz="1500"/>
              <a:t>• AI Predictive Maintenance: Machine learning failure prediction for gym equipment.</a:t>
            </a:r>
          </a:p>
          <a:p>
            <a:r>
              <a:rPr sz="1500"/>
              <a:t>• Native Mobile Apps: iOS &amp; Android apps with instant push alerts for membership renewal.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Individual Contribution</a:t>
            </a:r>
            <a:endParaRPr lang="en-US" sz="3600" dirty="0"/>
          </a:p>
        </p:txBody>
      </p:sp>
      <p:sp>
        <p:nvSpPr>
          <p:cNvPr id="3" name="Rubric tag"/>
          <p:cNvSpPr/>
          <p:nvPr/>
        </p:nvSpPr>
        <p:spPr>
          <a:xfrm>
            <a:off x="9464040" y="54864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C3 · Commits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4690872"/>
                <a:gridCol w="1828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Commits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A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Shareef Ahmed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[PRN 1]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Backend API, MongoDB Schema, JWT Auth, Two-Way CRUD Sync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9+ commits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[Student Name 2]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[PRN 2]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Frontend Architecture, React 18 Dashboards, Dark/Light Mode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[n] commits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[Student Name 3]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[PRN 3]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Financials Engine, GST Tax Invoices, 1-Click Renewal Workflows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[n] commits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[Student Name 4]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[PRN 4]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Universal CSV Export, Automated Test Suites, System Documentation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[n] commits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320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2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/>
              <a:t>[1] Silberschatz, Korth, Sudarshan, 'Database System Concepts,' 7th Ed., McGraw-Hill, 2020.</a:t>
            </a:r>
          </a:p>
          <a:p>
            <a:r>
              <a:rPr sz="1600"/>
              <a:t>[2] Elmasri &amp; Navathe, 'Fundamentals of Database Systems,' 7th Ed., Pearson, 2016.</a:t>
            </a:r>
          </a:p>
          <a:p>
            <a:r>
              <a:rPr sz="1600"/>
              <a:t>[3] MongoDB &amp; Mongoose Official Documentation, https://www.mongodb.com/docs/, 2026.</a:t>
            </a:r>
          </a:p>
          <a:p>
            <a:r>
              <a:rPr sz="1600"/>
              <a:t>[4] UN Sustainable Development Goals (SDG 3, 8, 9), https://sdgs.un.org/goals, 2026.</a:t>
            </a:r>
          </a:p>
          <a:p>
            <a:r>
              <a:rPr sz="1600"/>
              <a:t>[5] React 18 &amp; Vite 5 Production Guide, https://react.dev/,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384048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</a:rPr>
              <a:t>Questions?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 b="1"/>
              <a:t>GitHub: github.com/Shareefahmed2006-Star/gym360</a:t>
            </a:r>
          </a:p>
        </p:txBody>
      </p:sp>
      <p:sp>
        <p:nvSpPr>
          <p:cNvPr id="5" name="Image placeholder"/>
          <p:cNvSpPr/>
          <p:nvPr/>
        </p:nvSpPr>
        <p:spPr>
          <a:xfrm>
            <a:off x="5184648" y="4297680"/>
            <a:ext cx="1828800" cy="1828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367528" y="429768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QR code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BL Orange">
  <a:themeElements>
    <a:clrScheme name="PBL Orange">
      <a:dk1>
        <a:srgbClr val="262626"/>
      </a:dk1>
      <a:lt1>
        <a:srgbClr val="FFFFFF"/>
      </a:lt1>
      <a:dk2>
        <a:srgbClr val="595959"/>
      </a:dk2>
      <a:lt2>
        <a:srgbClr val="FBEDE7"/>
      </a:lt2>
      <a:accent1>
        <a:srgbClr val="D24A17"/>
      </a:accent1>
      <a:accent2>
        <a:srgbClr val="8C8C8C"/>
      </a:accent2>
      <a:accent3>
        <a:srgbClr val="1F4E79"/>
      </a:accent3>
      <a:accent4>
        <a:srgbClr val="6BAA75"/>
      </a:accent4>
      <a:accent5>
        <a:srgbClr val="E8A598"/>
      </a:accent5>
      <a:accent6>
        <a:srgbClr val="7F7F7F"/>
      </a:accent6>
      <a:hlink>
        <a:srgbClr val="D24A17"/>
      </a:hlink>
      <a:folHlink>
        <a:srgbClr val="1F4E79"/>
      </a:folHlink>
    </a:clrScheme>
    <a:fontScheme name="PBL Orang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PBL Activity Presentation Template</dc:title>
  <dc:subject>PptxGenJS Presentation</dc:subject>
  <dc:creator>PptxGenJS</dc:creator>
  <cp:lastModifiedBy>PptxGenJS</cp:lastModifiedBy>
  <cp:revision>1</cp:revision>
  <dcterms:created xsi:type="dcterms:W3CDTF">2026-10-13T17:09:53Z</dcterms:created>
  <dcterms:modified xsi:type="dcterms:W3CDTF">2026-10-13T17:09:53Z</dcterms:modified>
</cp:coreProperties>
</file>