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 portrait poster (594 × 841 mm). Replace every [bracketed] item, insert the logo, ER diagram (generated from SQL) and screenshots, and replace the QR box with a QR code of your public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top line"/>
          <p:cNvSpPr/>
          <p:nvPr/>
        </p:nvSpPr>
        <p:spPr>
          <a:xfrm>
            <a:off x="0" y="320040"/>
            <a:ext cx="21387816" cy="1828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Header"/>
          <p:cNvSpPr/>
          <p:nvPr/>
        </p:nvSpPr>
        <p:spPr>
          <a:xfrm>
            <a:off x="0" y="502920"/>
            <a:ext cx="21387816" cy="3840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Header bottom line"/>
          <p:cNvSpPr/>
          <p:nvPr/>
        </p:nvSpPr>
        <p:spPr>
          <a:xfrm>
            <a:off x="0" y="4343400"/>
            <a:ext cx="21387816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Logo tile"/>
          <p:cNvSpPr/>
          <p:nvPr/>
        </p:nvSpPr>
        <p:spPr>
          <a:xfrm>
            <a:off x="731520" y="868680"/>
            <a:ext cx="2926080" cy="3108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MIT-WP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78408"/>
            <a:ext cx="2560320" cy="2880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685800"/>
            <a:ext cx="1316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600"/>
              <a:t>PBL Activity</a:t>
            </a:r>
          </a:p>
          <a:p>
            <a:r>
              <a:rPr sz="3600"/>
              <a:t>GYM360: Enterprise Gym &amp; Fitness Management Platform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4114800" y="2880360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/>
              <a:t>Course: Database Management Systems   |   Guided by: [Faculty Name]</a:t>
            </a:r>
          </a:p>
          <a:p>
            <a:r>
              <a:rPr sz="2400"/>
              <a:t>Shareef Ahmed (Div [Div], Roll [Roll], Batch [Batch], PRN [PRN])  ·  [Student 2]  ·  [Student 3]  ·  [Student 4]</a:t>
            </a:r>
          </a:p>
        </p:txBody>
      </p:sp>
      <p:sp>
        <p:nvSpPr>
          <p:cNvPr id="9" name="QR placeholder"/>
          <p:cNvSpPr/>
          <p:nvPr/>
        </p:nvSpPr>
        <p:spPr>
          <a:xfrm>
            <a:off x="17730216" y="868680"/>
            <a:ext cx="2926080" cy="3108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730216" y="8686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/>
              <a:t>GitHub:</a:t>
            </a:r>
          </a:p>
          <a:p>
            <a:r>
              <a:rPr sz="2400"/>
              <a:t>github.com/</a:t>
            </a:r>
          </a:p>
          <a:p>
            <a:r>
              <a:rPr sz="2400"/>
              <a:t>Shareefahmed2006-Star/</a:t>
            </a:r>
          </a:p>
          <a:p>
            <a:r>
              <a:rPr sz="2400"/>
              <a:t>gym360</a:t>
            </a:r>
          </a:p>
        </p:txBody>
      </p:sp>
      <p:sp>
        <p:nvSpPr>
          <p:cNvPr id="11" name="Introduction section"/>
          <p:cNvSpPr/>
          <p:nvPr/>
        </p:nvSpPr>
        <p:spPr>
          <a:xfrm>
            <a:off x="731520" y="5029200"/>
            <a:ext cx="6275832" cy="429768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2" name="Introduction heading"/>
          <p:cNvSpPr/>
          <p:nvPr/>
        </p:nvSpPr>
        <p:spPr>
          <a:xfrm>
            <a:off x="1097280" y="5349240"/>
            <a:ext cx="4498848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97280" y="534924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6492240"/>
            <a:ext cx="53614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/>
              <a:t>Traditional fitness centers suffer from revenue loss, unmonitored plan expiries, and untracked equipment maintenance due to fragmented spreadsheets and manual paper logs. Front-desk bottlenecks and lack of real-time member data impede multi-branch scalability.</a:t>
            </a:r>
          </a:p>
        </p:txBody>
      </p:sp>
      <p:sp>
        <p:nvSpPr>
          <p:cNvPr id="15" name="Aims &amp; Objectives section"/>
          <p:cNvSpPr/>
          <p:nvPr/>
        </p:nvSpPr>
        <p:spPr>
          <a:xfrm>
            <a:off x="7555992" y="5029200"/>
            <a:ext cx="6275832" cy="429768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6" name="Aims &amp; Objectives heading"/>
          <p:cNvSpPr/>
          <p:nvPr/>
        </p:nvSpPr>
        <p:spPr>
          <a:xfrm>
            <a:off x="7921752" y="5349240"/>
            <a:ext cx="5544312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1752" y="5349240"/>
            <a:ext cx="5544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Aims &amp; Objectives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8013192" y="6492240"/>
            <a:ext cx="53614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/>
              <a:t>Aim: Build a secure, full-stack Gym Management DBMS ensuring data integrity, automated GST billing, and role portals.</a:t>
            </a:r>
          </a:p>
          <a:p>
            <a:r>
              <a:rPr sz="2400"/>
              <a:t>• Design a BCNF-normalized schema for 10 entities.</a:t>
            </a:r>
          </a:p>
          <a:p>
            <a:r>
              <a:rPr sz="2400"/>
              <a:t>• Enforce referential integrity &amp; real-time two-way CRUD sync.</a:t>
            </a:r>
          </a:p>
          <a:p>
            <a:r>
              <a:rPr sz="2400"/>
              <a:t>• Automate 14-day expiry alerts, 1-click renewals &amp; CSV exports.</a:t>
            </a:r>
          </a:p>
        </p:txBody>
      </p:sp>
      <p:sp>
        <p:nvSpPr>
          <p:cNvPr id="19" name="SDG Mapping section"/>
          <p:cNvSpPr/>
          <p:nvPr/>
        </p:nvSpPr>
        <p:spPr>
          <a:xfrm>
            <a:off x="14380464" y="5029200"/>
            <a:ext cx="6275832" cy="429768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0" name="SDG Mapping heading"/>
          <p:cNvSpPr/>
          <p:nvPr/>
        </p:nvSpPr>
        <p:spPr>
          <a:xfrm>
            <a:off x="14746224" y="5349240"/>
            <a:ext cx="4169664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4746224" y="5349240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SDG Mapping</a:t>
            </a:r>
            <a:endParaRPr lang="en-US" sz="3200" dirty="0"/>
          </a:p>
        </p:txBody>
      </p:sp>
      <p:sp>
        <p:nvSpPr>
          <p:cNvPr id="22" name="SDG circle"/>
          <p:cNvSpPr/>
          <p:nvPr/>
        </p:nvSpPr>
        <p:spPr>
          <a:xfrm>
            <a:off x="14837664" y="649224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837664" y="64922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/>
              <a:t>SDG</a:t>
            </a:r>
          </a:p>
          <a:p>
            <a:r>
              <a:rPr sz="2400" b="1"/>
              <a:t>3</a:t>
            </a:r>
          </a:p>
        </p:txBody>
      </p:sp>
      <p:sp>
        <p:nvSpPr>
          <p:cNvPr id="24" name="Text 21"/>
          <p:cNvSpPr txBox="1"/>
          <p:nvPr/>
        </p:nvSpPr>
        <p:spPr>
          <a:xfrm>
            <a:off x="17306544" y="6492240"/>
            <a:ext cx="29839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200" b="1"/>
              <a:t>Good Health and Well-Being</a:t>
            </a:r>
          </a:p>
          <a:p>
            <a:r>
              <a:rPr sz="2200" b="1"/>
              <a:t>Target: 3.4 (Non-communicable diseases &amp; wellness)</a:t>
            </a:r>
          </a:p>
          <a:p>
            <a:r>
              <a:rPr sz="2200" b="1"/>
              <a:t>Facilitates regular fitness habits, structured workout routines, and turnstile attendance consistency.</a:t>
            </a:r>
          </a:p>
        </p:txBody>
      </p:sp>
      <p:sp>
        <p:nvSpPr>
          <p:cNvPr id="25" name="Existing vs Proposed section"/>
          <p:cNvSpPr/>
          <p:nvPr/>
        </p:nvSpPr>
        <p:spPr>
          <a:xfrm>
            <a:off x="731520" y="9875520"/>
            <a:ext cx="6275832" cy="512064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6" name="Existing vs Proposed heading"/>
          <p:cNvSpPr/>
          <p:nvPr/>
        </p:nvSpPr>
        <p:spPr>
          <a:xfrm>
            <a:off x="1097280" y="10195560"/>
            <a:ext cx="5544312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10195560"/>
            <a:ext cx="5544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Existing vs Proposed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1188720" y="11338560"/>
            <a:ext cx="536143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 b="1"/>
              <a:t>Existing:</a:t>
            </a:r>
          </a:p>
          <a:p>
            <a:r>
              <a:rPr sz="2400" b="1"/>
              <a:t>• Disconnected registers, concurrency conflicts &amp; data redundancy.</a:t>
            </a:r>
          </a:p>
          <a:p>
            <a:r>
              <a:rPr sz="2400" b="1"/>
              <a:t>• Manual GST calculation &amp; untracked membership expirations.</a:t>
            </a:r>
          </a:p>
          <a:p>
            <a:r>
              <a:rPr sz="2400" b="1"/>
              <a:t>Proposed:</a:t>
            </a:r>
          </a:p>
          <a:p>
            <a:r>
              <a:rPr sz="2400" b="1"/>
              <a:t>• Centralized relational/document DB with strict integrity constraints.</a:t>
            </a:r>
          </a:p>
          <a:p>
            <a:r>
              <a:rPr sz="2400" b="1"/>
              <a:t>• Automated tax invoices, 1-click renewal &amp; universal CSV export.</a:t>
            </a:r>
          </a:p>
        </p:txBody>
      </p:sp>
      <p:sp>
        <p:nvSpPr>
          <p:cNvPr id="29" name="ER Diagram (generated from SQL) section"/>
          <p:cNvSpPr/>
          <p:nvPr/>
        </p:nvSpPr>
        <p:spPr>
          <a:xfrm>
            <a:off x="7555992" y="9875520"/>
            <a:ext cx="13100304" cy="10789920"/>
          </a:xfrm>
          <a:prstGeom prst="roundRect">
            <a:avLst>
              <a:gd name="adj" fmla="val 1695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0" name="ER Diagram (generated from SQL) heading"/>
          <p:cNvSpPr/>
          <p:nvPr/>
        </p:nvSpPr>
        <p:spPr>
          <a:xfrm>
            <a:off x="7921752" y="10195560"/>
            <a:ext cx="10753344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21752" y="10195560"/>
            <a:ext cx="10753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ER Diagram (generated from SQL)</a:t>
            </a:r>
            <a:endParaRPr lang="en-US" sz="3200" dirty="0"/>
          </a:p>
        </p:txBody>
      </p:sp>
      <p:sp>
        <p:nvSpPr>
          <p:cNvPr id="32" name="Image placeholder"/>
          <p:cNvSpPr/>
          <p:nvPr/>
        </p:nvSpPr>
        <p:spPr>
          <a:xfrm>
            <a:off x="8013192" y="11338560"/>
            <a:ext cx="12185904" cy="84124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8287512" y="11338560"/>
            <a:ext cx="11637264" cy="841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34" name="Text 31"/>
          <p:cNvSpPr txBox="1"/>
          <p:nvPr/>
        </p:nvSpPr>
        <p:spPr>
          <a:xfrm>
            <a:off x="8013192" y="19888200"/>
            <a:ext cx="1218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/>
              <a:t>Generated using: DBeaver ER Engine / MySQL Workbench Reverse Engineering</a:t>
            </a:r>
          </a:p>
        </p:txBody>
      </p:sp>
      <p:sp>
        <p:nvSpPr>
          <p:cNvPr id="35" name="Software Tools Used section"/>
          <p:cNvSpPr/>
          <p:nvPr/>
        </p:nvSpPr>
        <p:spPr>
          <a:xfrm>
            <a:off x="731520" y="15544800"/>
            <a:ext cx="6275832" cy="512064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6" name="Software Tools Used heading"/>
          <p:cNvSpPr/>
          <p:nvPr/>
        </p:nvSpPr>
        <p:spPr>
          <a:xfrm>
            <a:off x="1097280" y="15864840"/>
            <a:ext cx="5544312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15864840"/>
            <a:ext cx="5544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Software Tools Used</a:t>
            </a:r>
            <a:endParaRPr lang="en-US" sz="3200" dirty="0"/>
          </a:p>
        </p:txBody>
      </p:sp>
      <p:sp>
        <p:nvSpPr>
          <p:cNvPr id="38" name="Text 35"/>
          <p:cNvSpPr txBox="1"/>
          <p:nvPr/>
        </p:nvSpPr>
        <p:spPr>
          <a:xfrm>
            <a:off x="1188720" y="17007840"/>
            <a:ext cx="536143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/>
              <a:t>Database: MongoDB (Mongoose) / MySQL 8.0</a:t>
            </a:r>
          </a:p>
          <a:p>
            <a:r>
              <a:rPr sz="2400"/>
              <a:t>ER tool: DBeaver / MySQL Workbench</a:t>
            </a:r>
          </a:p>
          <a:p>
            <a:r>
              <a:rPr sz="2400"/>
              <a:t>Front / back end: React 18, Vite 5, Tailwind · Node.js, Express</a:t>
            </a:r>
          </a:p>
          <a:p>
            <a:r>
              <a:rPr sz="2400"/>
              <a:t>Cloud: MongoDB Atlas Cloud Cluster</a:t>
            </a:r>
          </a:p>
          <a:p>
            <a:r>
              <a:rPr sz="2400"/>
              <a:t>Version control: GitHub (Public Repository)</a:t>
            </a:r>
          </a:p>
        </p:txBody>
      </p:sp>
      <p:sp>
        <p:nvSpPr>
          <p:cNvPr id="39" name="Table Design section"/>
          <p:cNvSpPr/>
          <p:nvPr/>
        </p:nvSpPr>
        <p:spPr>
          <a:xfrm>
            <a:off x="731520" y="21214080"/>
            <a:ext cx="6275832" cy="4846320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0" name="Table Design heading"/>
          <p:cNvSpPr/>
          <p:nvPr/>
        </p:nvSpPr>
        <p:spPr>
          <a:xfrm>
            <a:off x="1097280" y="21534120"/>
            <a:ext cx="4498848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97280" y="2153412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Table Design</a:t>
            </a:r>
            <a:endParaRPr lang="en-US" sz="3200" dirty="0"/>
          </a:p>
        </p:txBody>
      </p:sp>
      <p:sp>
        <p:nvSpPr>
          <p:cNvPr id="42" name="Text 39"/>
          <p:cNvSpPr txBox="1"/>
          <p:nvPr/>
        </p:nvSpPr>
        <p:spPr>
          <a:xfrm>
            <a:off x="1188720" y="22677120"/>
            <a:ext cx="536143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/>
              <a:t>• Members (PK: member_id, FK: branch_id)</a:t>
            </a:r>
          </a:p>
          <a:p>
            <a:r>
              <a:rPr sz="2400"/>
              <a:t>• Plans (PK: plan_id) &amp; Memberships (PK: id, FK: member_id, plan_id)</a:t>
            </a:r>
          </a:p>
          <a:p>
            <a:r>
              <a:rPr sz="2400"/>
              <a:t>• Payments (PK: payment_id, FK: member_id, UK: invoice_no)</a:t>
            </a:r>
          </a:p>
          <a:p>
            <a:r>
              <a:rPr sz="2400"/>
              <a:t>• Attendance (PK: id, FK: member_id) | Equipment &amp; Logs</a:t>
            </a:r>
          </a:p>
          <a:p>
            <a:r>
              <a:rPr sz="2400"/>
              <a:t>Normalized to: 3NF / BCNF (No partial or transitive dependencies)</a:t>
            </a:r>
          </a:p>
        </p:txBody>
      </p:sp>
      <p:sp>
        <p:nvSpPr>
          <p:cNvPr id="43" name="System Implementation section"/>
          <p:cNvSpPr/>
          <p:nvPr/>
        </p:nvSpPr>
        <p:spPr>
          <a:xfrm>
            <a:off x="7555992" y="21214080"/>
            <a:ext cx="6275832" cy="4846320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4" name="System Implementation heading"/>
          <p:cNvSpPr/>
          <p:nvPr/>
        </p:nvSpPr>
        <p:spPr>
          <a:xfrm>
            <a:off x="7921752" y="21534120"/>
            <a:ext cx="5544312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921752" y="21534120"/>
            <a:ext cx="5544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System Implementation</a:t>
            </a:r>
            <a:endParaRPr lang="en-US" sz="3200" dirty="0"/>
          </a:p>
        </p:txBody>
      </p:sp>
      <p:sp>
        <p:nvSpPr>
          <p:cNvPr id="46" name="Code block"/>
          <p:cNvSpPr/>
          <p:nvPr/>
        </p:nvSpPr>
        <p:spPr>
          <a:xfrm>
            <a:off x="8013192" y="22677120"/>
            <a:ext cx="5361432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287512" y="22860000"/>
            <a:ext cx="4812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000">
                <a:latin typeface="Courier New"/>
              </a:rPr>
              <a:t>-- 4-Table Join: Active Member Expiry</a:t>
            </a:r>
          </a:p>
          <a:p>
            <a:r>
              <a:rPr sz="2000">
                <a:latin typeface="Courier New"/>
              </a:rPr>
              <a:t>SELECT m.name, b.name AS branch, p.plan_name, ms.end_date</a:t>
            </a:r>
          </a:p>
          <a:p>
            <a:r>
              <a:rPr sz="2000">
                <a:latin typeface="Courier New"/>
              </a:rPr>
              <a:t>FROM Members m JOIN Branches b ON m.branch_id = b.id</a:t>
            </a:r>
          </a:p>
          <a:p>
            <a:r>
              <a:rPr sz="2000">
                <a:latin typeface="Courier New"/>
              </a:rPr>
              <a:t>JOIN Memberships ms ON m.id = ms.member_id</a:t>
            </a:r>
          </a:p>
          <a:p>
            <a:r>
              <a:rPr sz="2000">
                <a:latin typeface="Courier New"/>
              </a:rPr>
              <a:t>JOIN Plans p ON ms.plan_id = p.id WHERE m.status = 'active';</a:t>
            </a:r>
          </a:p>
          <a:p>
            <a:r>
              <a:rPr sz="2000">
                <a:latin typeface="Courier New"/>
              </a:rPr>
              <a:t>-- View: GST Tax Breakdown</a:t>
            </a:r>
          </a:p>
          <a:p>
            <a:r>
              <a:rPr sz="2000">
                <a:latin typeface="Courier New"/>
              </a:rPr>
              <a:t>CREATE VIEW View_Invoices AS SELECT invoice_no, amount,</a:t>
            </a:r>
          </a:p>
          <a:p>
            <a:r>
              <a:rPr sz="2000">
                <a:latin typeface="Courier New"/>
              </a:rPr>
              <a:t>ROUND(amount*0.09,2) AS cgst, ROUND(amount*0.09,2) AS sgst,</a:t>
            </a:r>
          </a:p>
          <a:p>
            <a:r>
              <a:rPr sz="2000">
                <a:latin typeface="Courier New"/>
              </a:rPr>
              <a:t>ROUND(amount*1.18,2) AS total FROM Payments;</a:t>
            </a:r>
          </a:p>
        </p:txBody>
      </p:sp>
      <p:sp>
        <p:nvSpPr>
          <p:cNvPr id="48" name="Results section"/>
          <p:cNvSpPr/>
          <p:nvPr/>
        </p:nvSpPr>
        <p:spPr>
          <a:xfrm>
            <a:off x="14380464" y="21214080"/>
            <a:ext cx="6275832" cy="4846320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9" name="Results heading"/>
          <p:cNvSpPr/>
          <p:nvPr/>
        </p:nvSpPr>
        <p:spPr>
          <a:xfrm>
            <a:off x="14746224" y="21534120"/>
            <a:ext cx="2852928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4746224" y="21534120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Results</a:t>
            </a:r>
            <a:endParaRPr lang="en-US" sz="3200" dirty="0"/>
          </a:p>
        </p:txBody>
      </p:sp>
      <p:sp>
        <p:nvSpPr>
          <p:cNvPr id="51" name="Image placeholder"/>
          <p:cNvSpPr/>
          <p:nvPr/>
        </p:nvSpPr>
        <p:spPr>
          <a:xfrm>
            <a:off x="14837664" y="22677120"/>
            <a:ext cx="5361432" cy="30175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52" name="Text 49"/>
          <p:cNvSpPr txBox="1"/>
          <p:nvPr/>
        </p:nvSpPr>
        <p:spPr>
          <a:xfrm>
            <a:off x="15111984" y="22677120"/>
            <a:ext cx="48127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53" name="Conclusion &amp; Future Scope section"/>
          <p:cNvSpPr/>
          <p:nvPr/>
        </p:nvSpPr>
        <p:spPr>
          <a:xfrm>
            <a:off x="731520" y="26517600"/>
            <a:ext cx="6275832" cy="292608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54" name="Conclusion &amp; Future Scope heading"/>
          <p:cNvSpPr/>
          <p:nvPr/>
        </p:nvSpPr>
        <p:spPr>
          <a:xfrm>
            <a:off x="1097280" y="26837640"/>
            <a:ext cx="5544312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97280" y="26837640"/>
            <a:ext cx="5544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&amp; Future Scope</a:t>
            </a:r>
            <a:endParaRPr lang="en-US" sz="3200" dirty="0"/>
          </a:p>
        </p:txBody>
      </p:sp>
      <p:sp>
        <p:nvSpPr>
          <p:cNvPr id="56" name="Text 53"/>
          <p:cNvSpPr txBox="1"/>
          <p:nvPr/>
        </p:nvSpPr>
        <p:spPr>
          <a:xfrm>
            <a:off x="1188720" y="27980640"/>
            <a:ext cx="5361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/>
              <a:t>Achieved: Full-stack DBMS with role portals, automated GST billing, real-time CRUD sync &amp; sub-15ms queries.</a:t>
            </a:r>
          </a:p>
          <a:p>
            <a:r>
              <a:rPr sz="2400"/>
              <a:t>Future: IoT biometric turnstile integration and AI predictive maintenance for gym machinery.</a:t>
            </a:r>
          </a:p>
        </p:txBody>
      </p:sp>
      <p:sp>
        <p:nvSpPr>
          <p:cNvPr id="57" name="Application section"/>
          <p:cNvSpPr/>
          <p:nvPr/>
        </p:nvSpPr>
        <p:spPr>
          <a:xfrm>
            <a:off x="7555992" y="26517600"/>
            <a:ext cx="6275832" cy="292608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58" name="Application heading"/>
          <p:cNvSpPr/>
          <p:nvPr/>
        </p:nvSpPr>
        <p:spPr>
          <a:xfrm>
            <a:off x="7921752" y="26837640"/>
            <a:ext cx="4169664" cy="868680"/>
          </a:xfrm>
          <a:prstGeom prst="roundRect">
            <a:avLst>
              <a:gd name="adj" fmla="val 4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921752" y="26837640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Application</a:t>
            </a:r>
            <a:endParaRPr lang="en-US" sz="3200" dirty="0"/>
          </a:p>
        </p:txBody>
      </p:sp>
      <p:sp>
        <p:nvSpPr>
          <p:cNvPr id="60" name="Text 57"/>
          <p:cNvSpPr txBox="1"/>
          <p:nvPr/>
        </p:nvSpPr>
        <p:spPr>
          <a:xfrm>
            <a:off x="8013192" y="27980640"/>
            <a:ext cx="5361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/>
              <a:t>• Commercial Gym Franchises (multi-branch revenue, staff &amp; asset auditing).</a:t>
            </a:r>
          </a:p>
          <a:p>
            <a:r>
              <a:rPr sz="2400"/>
              <a:t>• Turnstile Reception (instant member verification &amp; turnstile check-in).</a:t>
            </a:r>
          </a:p>
        </p:txBody>
      </p:sp>
      <p:sp>
        <p:nvSpPr>
          <p:cNvPr id="61" name="GitHub Repository section"/>
          <p:cNvSpPr/>
          <p:nvPr/>
        </p:nvSpPr>
        <p:spPr>
          <a:xfrm>
            <a:off x="14380464" y="26517600"/>
            <a:ext cx="6275832" cy="292608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2" name="GitHub Repository heading"/>
          <p:cNvSpPr/>
          <p:nvPr/>
        </p:nvSpPr>
        <p:spPr>
          <a:xfrm>
            <a:off x="14746224" y="26837640"/>
            <a:ext cx="5544312" cy="868680"/>
          </a:xfrm>
          <a:prstGeom prst="roundRect">
            <a:avLst>
              <a:gd name="adj" fmla="val 4947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4746224" y="26837640"/>
            <a:ext cx="5544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GitHub Repository</a:t>
            </a:r>
            <a:endParaRPr lang="en-US" sz="3200" dirty="0"/>
          </a:p>
        </p:txBody>
      </p:sp>
      <p:sp>
        <p:nvSpPr>
          <p:cNvPr id="64" name="Text 61"/>
          <p:cNvSpPr txBox="1"/>
          <p:nvPr/>
        </p:nvSpPr>
        <p:spPr>
          <a:xfrm>
            <a:off x="14837664" y="27980640"/>
            <a:ext cx="5361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/>
              <a:t>github.com/Shareefahmed2006-Star/gym360</a:t>
            </a:r>
          </a:p>
          <a:p>
            <a:r>
              <a:rPr sz="2400"/>
              <a:t>Public · Fully documented with setup &amp; tests</a:t>
            </a:r>
          </a:p>
        </p:txBody>
      </p:sp>
      <p:sp>
        <p:nvSpPr>
          <p:cNvPr id="65" name="Footer line"/>
          <p:cNvSpPr/>
          <p:nvPr/>
        </p:nvSpPr>
        <p:spPr>
          <a:xfrm>
            <a:off x="731520" y="29718000"/>
            <a:ext cx="199247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31520" y="29791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DoEEE, MIT-WPU</a:t>
            </a:r>
            <a:endParaRPr lang="en-US" sz="2200" dirty="0"/>
          </a:p>
        </p:txBody>
      </p:sp>
      <p:sp>
        <p:nvSpPr>
          <p:cNvPr id="67" name="Text 64"/>
          <p:cNvSpPr txBox="1"/>
          <p:nvPr/>
        </p:nvSpPr>
        <p:spPr>
          <a:xfrm>
            <a:off x="8769096" y="29791152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/>
              <a:t>PBL Activity  |  Database Management Systems  |  Academic Year 2025-2026</a:t>
            </a:r>
          </a:p>
        </p:txBody>
      </p:sp>
      <p:pic>
        <p:nvPicPr>
          <p:cNvPr id="68" name="Picture 67" descr="media_1792957313485_997398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192" y="11338560"/>
            <a:ext cx="12185904" cy="8412480"/>
          </a:xfrm>
          <a:prstGeom prst="rect">
            <a:avLst/>
          </a:prstGeom>
        </p:spPr>
      </p:pic>
      <p:pic>
        <p:nvPicPr>
          <p:cNvPr id="69" name="Picture 68" descr="media_1792949349693_9d7e65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7664" y="22677120"/>
            <a:ext cx="5361432" cy="3017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BL Orange">
  <a:themeElements>
    <a:clrScheme name="PBL Orange">
      <a:dk1>
        <a:srgbClr val="262626"/>
      </a:dk1>
      <a:lt1>
        <a:srgbClr val="FFFFFF"/>
      </a:lt1>
      <a:dk2>
        <a:srgbClr val="595959"/>
      </a:dk2>
      <a:lt2>
        <a:srgbClr val="FBEDE7"/>
      </a:lt2>
      <a:accent1>
        <a:srgbClr val="D24A17"/>
      </a:accent1>
      <a:accent2>
        <a:srgbClr val="8C8C8C"/>
      </a:accent2>
      <a:accent3>
        <a:srgbClr val="1F4E79"/>
      </a:accent3>
      <a:accent4>
        <a:srgbClr val="6BAA75"/>
      </a:accent4>
      <a:accent5>
        <a:srgbClr val="E8A598"/>
      </a:accent5>
      <a:accent6>
        <a:srgbClr val="7F7F7F"/>
      </a:accent6>
      <a:hlink>
        <a:srgbClr val="D24A17"/>
      </a:hlink>
      <a:folHlink>
        <a:srgbClr val="1F4E79"/>
      </a:folHlink>
    </a:clrScheme>
    <a:fontScheme name="PBL Oran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PBL Poster Template</dc:title>
  <dc:subject>PptxGenJS Presentation</dc:subject>
  <dc:creator>PptxGenJS</dc:creator>
  <cp:lastModifiedBy>PptxGenJS</cp:lastModifiedBy>
  <cp:revision>1</cp:revision>
  <dcterms:created xsi:type="dcterms:W3CDTF">2026-10-13T17:09:54Z</dcterms:created>
  <dcterms:modified xsi:type="dcterms:W3CDTF">2026-10-13T17:09:54Z</dcterms:modified>
</cp:coreProperties>
</file>